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29250" y="0"/>
            <a:ext cx="3714750" cy="5143500"/>
          </a:xfrm>
          <a:prstGeom prst="rect">
            <a:avLst/>
          </a:prstGeom>
          <a:solidFill>
            <a:srgbClr val="0A192F">
              <a:alpha val="9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972050" y="685800"/>
            <a:ext cx="914400" cy="57150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5" name="Text 2"/>
          <p:cNvSpPr/>
          <p:nvPr/>
        </p:nvSpPr>
        <p:spPr>
          <a:xfrm>
            <a:off x="514350" y="385763"/>
            <a:ext cx="115974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5A5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PORTFOLIO / 2026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142536" y="385763"/>
            <a:ext cx="48711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01 — 05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14350" y="1185863"/>
            <a:ext cx="54292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DX・AI IMPLEMENTATION PARTNER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14350" y="1528763"/>
            <a:ext cx="5429250" cy="11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3750" b="1" spc="-4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現場の摩擦を、</a:t>
            </a:r>
            <a:r>
              <a:rPr lang="en-US" sz="3750" b="1" spc="-4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3750" b="1" spc="-4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仕組みで前進させる。</a:t>
            </a:r>
            <a:endParaRPr lang="en-US" sz="3750" dirty="0"/>
          </a:p>
        </p:txBody>
      </p:sp>
      <p:sp>
        <p:nvSpPr>
          <p:cNvPr id="9" name="Text 6"/>
          <p:cNvSpPr/>
          <p:nvPr/>
        </p:nvSpPr>
        <p:spPr>
          <a:xfrm>
            <a:off x="514350" y="2895116"/>
            <a:ext cx="4500563" cy="2625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経営と現場をつなぐ、DX・AI推進パートナー。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14350" y="3757724"/>
            <a:ext cx="15716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700" b="1" spc="2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日置 俊行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14350" y="4064905"/>
            <a:ext cx="15716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5261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TOSHIYUKI HIOKI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2271713" y="3831394"/>
            <a:ext cx="3671888" cy="36567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Consultant / In-house SE</a:t>
            </a:r>
            <a:r>
              <a:rPr lang="en-US" sz="800" b="1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
</a:t>
            </a:r>
            <a:r>
              <a:rPr lang="en-US" sz="800" b="1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Forward Deployed Engineer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400800" y="3817665"/>
            <a:ext cx="235743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900" b="1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11Y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400800" y="4206999"/>
            <a:ext cx="235459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プロジェクトマネジメントの経験を、変革の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00800" y="4412717"/>
            <a:ext cx="58869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実装力へ。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71475"/>
            <a:ext cx="7601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5A5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CORE VALUE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8142536" y="371475"/>
            <a:ext cx="48711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02 — 05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14350" y="735806"/>
            <a:ext cx="169167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5261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THE PROBLEM &amp; SOLUTION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14350" y="928688"/>
            <a:ext cx="657225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spc="-2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変革が止まる理由は、</a:t>
            </a:r>
            <a:r>
              <a:rPr lang="en-US" sz="2450" b="1" spc="-2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2450" b="1" spc="-2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ツール不足ではなく「翻訳不足」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514350" y="1428750"/>
            <a:ext cx="5715000" cy="437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00" b="1" dirty="0">
                <a:solidFill>
                  <a:srgbClr val="333333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経営の意図と現場の実務。日置は、その間にある認識差を構造化し、変革が動き続ける状態をつくります。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14350" y="2428875"/>
            <a:ext cx="691548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514350" y="2428875"/>
            <a:ext cx="691548" cy="514350"/>
          </a:xfrm>
          <a:prstGeom prst="rect">
            <a:avLst/>
          </a:prstGeom>
          <a:noFill/>
          <a:ln/>
        </p:spPr>
        <p:txBody>
          <a:bodyPr wrap="none" lIns="0" tIns="0" rIns="136017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spc="-3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01</a:t>
            </a:r>
            <a:endParaRPr lang="en-US" sz="3750" dirty="0"/>
          </a:p>
        </p:txBody>
      </p:sp>
      <p:sp>
        <p:nvSpPr>
          <p:cNvPr id="10" name="Text 7"/>
          <p:cNvSpPr/>
          <p:nvPr/>
        </p:nvSpPr>
        <p:spPr>
          <a:xfrm>
            <a:off x="514350" y="3171825"/>
            <a:ext cx="2514600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経営と現場をつなぐ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14350" y="3526110"/>
            <a:ext cx="2286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261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認識差を整理し、意思決定可能な資料・ルールへ落とし込む。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14700" y="2428875"/>
            <a:ext cx="691548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3314700" y="2428875"/>
            <a:ext cx="691548" cy="514350"/>
          </a:xfrm>
          <a:prstGeom prst="rect">
            <a:avLst/>
          </a:prstGeom>
          <a:noFill/>
          <a:ln/>
        </p:spPr>
        <p:txBody>
          <a:bodyPr wrap="none" lIns="0" tIns="0" rIns="136017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spc="-3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02</a:t>
            </a:r>
            <a:endParaRPr lang="en-US" sz="3750" dirty="0"/>
          </a:p>
        </p:txBody>
      </p:sp>
      <p:sp>
        <p:nvSpPr>
          <p:cNvPr id="14" name="Text 11"/>
          <p:cNvSpPr/>
          <p:nvPr/>
        </p:nvSpPr>
        <p:spPr>
          <a:xfrm>
            <a:off x="3314700" y="3171825"/>
            <a:ext cx="2514600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SaaSと業務をつなぐ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14700" y="3526110"/>
            <a:ext cx="2286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261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紙・Excel・チャットに分断された業務フローを再設計し、自動化へつなげる。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115050" y="2428875"/>
            <a:ext cx="691548" cy="514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6115050" y="2428875"/>
            <a:ext cx="691548" cy="514350"/>
          </a:xfrm>
          <a:prstGeom prst="rect">
            <a:avLst/>
          </a:prstGeom>
          <a:noFill/>
          <a:ln/>
        </p:spPr>
        <p:txBody>
          <a:bodyPr wrap="none" lIns="0" tIns="0" rIns="136017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750" b="1" spc="-3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03</a:t>
            </a:r>
            <a:endParaRPr lang="en-US" sz="3750" dirty="0"/>
          </a:p>
        </p:txBody>
      </p:sp>
      <p:sp>
        <p:nvSpPr>
          <p:cNvPr id="18" name="Text 15"/>
          <p:cNvSpPr/>
          <p:nvPr/>
        </p:nvSpPr>
        <p:spPr>
          <a:xfrm>
            <a:off x="6115050" y="3171825"/>
            <a:ext cx="2514600" cy="2399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AIと組織知をつなぐ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115050" y="3526110"/>
            <a:ext cx="2286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52617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Claude Code等を用い、属人化した意思決定の背景をナレッジ化する。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71475"/>
            <a:ext cx="5049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5A5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CASE 01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8142536" y="371475"/>
            <a:ext cx="48711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03 — 05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14350" y="735806"/>
            <a:ext cx="150733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5261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FIELD IMPLEMENTATION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14350" y="928688"/>
            <a:ext cx="3857625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spc="-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建設業の現場を、</a:t>
            </a:r>
            <a:r>
              <a:rPr lang="en-US" sz="2100" b="1" spc="-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2100" b="1" spc="-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判断できる組織へ。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14350" y="1793081"/>
            <a:ext cx="3857625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5261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制度・業務・IT基盤を分断せず、組織が動くためのひとつの設計として推進。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4350" y="2387352"/>
            <a:ext cx="38576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ROLE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14350" y="2548086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DX・AI推進顧問（総合建設業 / 従業員10名規模）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14350" y="2862411"/>
            <a:ext cx="38576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PROBLEM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14350" y="3023146"/>
            <a:ext cx="38576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経営・現場・バックオフィスの情報分断、二重入力、属人化。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14350" y="3337471"/>
            <a:ext cx="38576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514350" y="3583930"/>
            <a:ext cx="42863" cy="42863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4" name="Text 11"/>
          <p:cNvSpPr/>
          <p:nvPr/>
        </p:nvSpPr>
        <p:spPr>
          <a:xfrm>
            <a:off x="514350" y="3526780"/>
            <a:ext cx="3857625" cy="16999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ANDPAD / LINE WORKS / Google Workspaceを連携した業務フロー再設計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14350" y="3796792"/>
            <a:ext cx="42863" cy="42863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6" name="Text 13"/>
          <p:cNvSpPr/>
          <p:nvPr/>
        </p:nvSpPr>
        <p:spPr>
          <a:xfrm>
            <a:off x="514350" y="3739642"/>
            <a:ext cx="3857625" cy="16999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Pythonによる工事管理表への自動転記・NASコピーの自動化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14350" y="4009653"/>
            <a:ext cx="42863" cy="42863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8" name="Text 15"/>
          <p:cNvSpPr/>
          <p:nvPr/>
        </p:nvSpPr>
        <p:spPr>
          <a:xfrm>
            <a:off x="514350" y="3952503"/>
            <a:ext cx="3857625" cy="16999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最新法令を反映した就業規則の改定とネットワーク（Wi-Fi）環境整備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14350" y="4222514"/>
            <a:ext cx="42863" cy="42863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0" name="Text 17"/>
          <p:cNvSpPr/>
          <p:nvPr/>
        </p:nvSpPr>
        <p:spPr>
          <a:xfrm>
            <a:off x="514350" y="4165364"/>
            <a:ext cx="3857625" cy="16999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AIによる意思決定プロセス（なぜ着手したか）のドキュメント化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057775" y="1571625"/>
            <a:ext cx="1428750" cy="357188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2" name="Shape 19"/>
          <p:cNvSpPr/>
          <p:nvPr/>
        </p:nvSpPr>
        <p:spPr>
          <a:xfrm>
            <a:off x="5057775" y="1571625"/>
            <a:ext cx="28575" cy="3571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3" name="Text 20"/>
          <p:cNvSpPr/>
          <p:nvPr/>
        </p:nvSpPr>
        <p:spPr>
          <a:xfrm>
            <a:off x="5057775" y="1571625"/>
            <a:ext cx="1428750" cy="35718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経営層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057775" y="1985963"/>
            <a:ext cx="1428750" cy="357188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5" name="Shape 22"/>
          <p:cNvSpPr/>
          <p:nvPr/>
        </p:nvSpPr>
        <p:spPr>
          <a:xfrm>
            <a:off x="5057775" y="1985963"/>
            <a:ext cx="28575" cy="3571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6" name="Text 23"/>
          <p:cNvSpPr/>
          <p:nvPr/>
        </p:nvSpPr>
        <p:spPr>
          <a:xfrm>
            <a:off x="5057775" y="1985963"/>
            <a:ext cx="1428750" cy="35718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現場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5057775" y="2400300"/>
            <a:ext cx="1428750" cy="357188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8" name="Shape 25"/>
          <p:cNvSpPr/>
          <p:nvPr/>
        </p:nvSpPr>
        <p:spPr>
          <a:xfrm>
            <a:off x="5057775" y="2400300"/>
            <a:ext cx="28575" cy="3571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29" name="Text 26"/>
          <p:cNvSpPr/>
          <p:nvPr/>
        </p:nvSpPr>
        <p:spPr>
          <a:xfrm>
            <a:off x="5057775" y="2400300"/>
            <a:ext cx="1428750" cy="35718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バックオフィス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665119" y="2157413"/>
            <a:ext cx="357188" cy="14288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1" name="Shape 28"/>
          <p:cNvSpPr/>
          <p:nvPr/>
        </p:nvSpPr>
        <p:spPr>
          <a:xfrm>
            <a:off x="7200900" y="1615939"/>
            <a:ext cx="1428750" cy="1097235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32" name="Text 29"/>
          <p:cNvSpPr/>
          <p:nvPr/>
        </p:nvSpPr>
        <p:spPr>
          <a:xfrm>
            <a:off x="7343775" y="1844539"/>
            <a:ext cx="1143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1" kern="0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GOAL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343775" y="2044564"/>
            <a:ext cx="114300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spc="1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Decision</a:t>
            </a:r>
            <a:r>
              <a:rPr lang="en-US" sz="1100" b="1" spc="1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1100" b="1" spc="1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Ready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057775" y="3043238"/>
            <a:ext cx="3571875" cy="965746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35" name="Shape 32"/>
          <p:cNvSpPr/>
          <p:nvPr/>
        </p:nvSpPr>
        <p:spPr>
          <a:xfrm>
            <a:off x="5057775" y="3043238"/>
            <a:ext cx="3571875" cy="28575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36" name="Text 33"/>
          <p:cNvSpPr/>
          <p:nvPr/>
        </p:nvSpPr>
        <p:spPr>
          <a:xfrm>
            <a:off x="5229225" y="3214688"/>
            <a:ext cx="32289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OUTCOME HIGHLIGHT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5229225" y="3443288"/>
            <a:ext cx="3228975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[ 現場起点の自動化 ] + [ 属人化の解消 ]</a:t>
            </a:r>
            <a:r>
              <a:rPr lang="en-US" sz="8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800" b="1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→</a:t>
            </a:r>
            <a:r>
              <a:rPr lang="en-US" sz="8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 経営判断可能な粒度での情報構造化を実現。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71475"/>
            <a:ext cx="50497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5A5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CASE 02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8142536" y="371475"/>
            <a:ext cx="48711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A192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04 — 05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14350" y="735806"/>
            <a:ext cx="23431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5261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LARGE-SCALE PROJECT MANAGEMENT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14350" y="928688"/>
            <a:ext cx="7858125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spc="-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11年のPM経験が支える、大規模プロジェクトの推進力。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14350" y="1357313"/>
            <a:ext cx="458701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要件定義から現場への定着まで、関係者を巻き込みながら確実に前進させる。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14350" y="2057400"/>
            <a:ext cx="38290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金融系システム基盤更改</a:t>
            </a:r>
            <a:r>
              <a:rPr lang="en-US" sz="11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800" b="1" dirty="0">
                <a:solidFill>
                  <a:srgbClr val="5261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NTTファイナンス様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14350" y="2614613"/>
            <a:ext cx="1920999" cy="257175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0" name="Shape 7"/>
          <p:cNvSpPr/>
          <p:nvPr/>
        </p:nvSpPr>
        <p:spPr>
          <a:xfrm>
            <a:off x="514350" y="2614613"/>
            <a:ext cx="28575" cy="257175"/>
          </a:xfrm>
          <a:prstGeom prst="rect">
            <a:avLst/>
          </a:prstGeom>
          <a:solidFill>
            <a:srgbClr val="0A192F"/>
          </a:solidFill>
          <a:ln/>
        </p:spPr>
      </p:sp>
      <p:sp>
        <p:nvSpPr>
          <p:cNvPr id="11" name="Text 8"/>
          <p:cNvSpPr/>
          <p:nvPr/>
        </p:nvSpPr>
        <p:spPr>
          <a:xfrm>
            <a:off x="514350" y="2614613"/>
            <a:ext cx="1920999" cy="257175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プロジェクト推進PM（規模30名）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14350" y="3043238"/>
            <a:ext cx="38290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100前後のタスク管理、経営・拠点責任者向けシナリオ整理・プレゼン対応、ベンダーコントロールを完遂。複雑なステークホルダー間の合意形成を主導し、プロジェクトを推進。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800600" y="2057400"/>
            <a:ext cx="382905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仕様変更情報の一元管理システム構築</a:t>
            </a:r>
            <a:r>
              <a:rPr lang="en-US" sz="11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800" b="1" dirty="0">
                <a:solidFill>
                  <a:srgbClr val="5261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大手自動車部品メーカー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00600" y="2614613"/>
            <a:ext cx="881583" cy="257175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5" name="Shape 12"/>
          <p:cNvSpPr/>
          <p:nvPr/>
        </p:nvSpPr>
        <p:spPr>
          <a:xfrm>
            <a:off x="4800600" y="2614613"/>
            <a:ext cx="28575" cy="257175"/>
          </a:xfrm>
          <a:prstGeom prst="rect">
            <a:avLst/>
          </a:prstGeom>
          <a:solidFill>
            <a:srgbClr val="FF5A5F"/>
          </a:solidFill>
          <a:ln/>
        </p:spPr>
      </p:sp>
      <p:sp>
        <p:nvSpPr>
          <p:cNvPr id="16" name="Text 13"/>
          <p:cNvSpPr/>
          <p:nvPr/>
        </p:nvSpPr>
        <p:spPr>
          <a:xfrm>
            <a:off x="4800600" y="2614613"/>
            <a:ext cx="881583" cy="257175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PM・DX推進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800600" y="3043238"/>
            <a:ext cx="38290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国内外ベンダーとの折衝、Pythonを用いた効率化ツール開発を主導。設計手戻りの削減により、大幅な業務効率化を達成。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00600" y="3657600"/>
            <a:ext cx="1003027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350" b="1" spc="-3" kern="0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160</a:t>
            </a:r>
            <a:endParaRPr lang="en-US" sz="4350" dirty="0"/>
          </a:p>
        </p:txBody>
      </p:sp>
      <p:sp>
        <p:nvSpPr>
          <p:cNvPr id="19" name="Text 16"/>
          <p:cNvSpPr/>
          <p:nvPr/>
        </p:nvSpPr>
        <p:spPr>
          <a:xfrm>
            <a:off x="5889352" y="4018359"/>
            <a:ext cx="428625" cy="335756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192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h / 月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00600" y="4411266"/>
            <a:ext cx="382905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526176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の工数削減を達成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371475"/>
            <a:ext cx="127577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5A5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PROFILE &amp; CONTACT</a:t>
            </a:r>
            <a:endParaRPr lang="en-US" sz="700" dirty="0"/>
          </a:p>
        </p:txBody>
      </p:sp>
      <p:sp>
        <p:nvSpPr>
          <p:cNvPr id="4" name="Text 1"/>
          <p:cNvSpPr/>
          <p:nvPr/>
        </p:nvSpPr>
        <p:spPr>
          <a:xfrm>
            <a:off x="8142536" y="371475"/>
            <a:ext cx="48711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FFFFFF">
                    <a:alpha val="50000"/>
                  </a:srgbClr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05 — 05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14350" y="1000125"/>
            <a:ext cx="4000500" cy="123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450" b="1" spc="-2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構想を、現場が使う仕組み</a:t>
            </a:r>
            <a:r>
              <a:rPr lang="en-US" sz="2450" b="1" spc="-2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に。</a:t>
            </a:r>
            <a:r>
              <a:rPr lang="en-US" sz="2450" b="1" spc="-2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
</a:t>
            </a:r>
            <a:r>
              <a:rPr lang="en-US" sz="2450" b="1" spc="-2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仕組みを、組織の前進に。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14350" y="2577331"/>
            <a:ext cx="4000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spc="3" kern="0" dirty="0">
                <a:solidFill>
                  <a:srgbClr val="FFFFF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日置 俊行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14350" y="2863081"/>
            <a:ext cx="40005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FFFFFF">
                    <a:alpha val="5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TOSHIYUKI HIOKI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14350" y="3166690"/>
            <a:ext cx="40005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44000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プロジェクトマネジメント歴11年。自動車メーカーや通信キャリアでの要件定義〜基本設計、チーム生産性向上の経験を土台に、現在は総合建設業やIT企業のDX・AI推進顧問として複数社を伴走支援。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343525" y="1000125"/>
            <a:ext cx="3286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5A5F"/>
                </a:solidFill>
                <a:latin typeface="Noto Sans JP Black" pitchFamily="34" charset="0"/>
                <a:ea typeface="Noto Sans JP Black" pitchFamily="34" charset="-122"/>
                <a:cs typeface="Noto Sans JP Black" pitchFamily="34" charset="-120"/>
              </a:rPr>
              <a:t>TECHNOLOGY &amp; TOOLS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5343525" y="1257300"/>
            <a:ext cx="633673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43525" y="1257300"/>
            <a:ext cx="633673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Python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6034348" y="1257300"/>
            <a:ext cx="475785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4348" y="1257300"/>
            <a:ext cx="475785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AWS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567283" y="1257300"/>
            <a:ext cx="454354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67283" y="1257300"/>
            <a:ext cx="454354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GAS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7078787" y="1257300"/>
            <a:ext cx="530814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78787" y="1257300"/>
            <a:ext cx="530814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M365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7666751" y="1257300"/>
            <a:ext cx="575072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66751" y="1257300"/>
            <a:ext cx="575072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Figma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343525" y="1585913"/>
            <a:ext cx="638696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43525" y="1585913"/>
            <a:ext cx="638696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Copilot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6039371" y="1585913"/>
            <a:ext cx="912279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9371" y="1585913"/>
            <a:ext cx="912279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Claude Code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7008800" y="1585913"/>
            <a:ext cx="680107" cy="271463"/>
          </a:xfrm>
          <a:prstGeom prst="rect">
            <a:avLst/>
          </a:prstGeom>
          <a:solidFill>
            <a:srgbClr val="0A192F">
              <a:alpha val="50000"/>
            </a:srgbClr>
          </a:solidFill>
          <a:ln w="9144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08800" y="1585913"/>
            <a:ext cx="680107" cy="271463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ANDPAD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6627949" y="4229100"/>
            <a:ext cx="2001701" cy="4000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627949" y="4229100"/>
            <a:ext cx="14288" cy="400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6813686" y="4229100"/>
            <a:ext cx="181596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FFFF">
                    <a:alpha val="90000"/>
                  </a:srgbClr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BASED IN MISHIMA, SHIZUOKA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813686" y="4471988"/>
            <a:ext cx="181596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FFFFFF">
                    <a:alpha val="90000"/>
                  </a:srgbClr>
                </a:solidFill>
                <a:latin typeface="Noto Sans JP Bold" pitchFamily="34" charset="0"/>
                <a:ea typeface="Noto Sans JP Bold" pitchFamily="34" charset="-122"/>
                <a:cs typeface="Noto Sans JP Bold" pitchFamily="34" charset="-120"/>
              </a:rPr>
              <a:t>hioguitar0730@gmail.com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2026-08-21T01:35:50Z</dcterms:created>
  <dcterms:modified xsi:type="dcterms:W3CDTF">2026-08-21T01:35:50Z</dcterms:modified>
</cp:coreProperties>
</file>