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607040" y="-2103120"/>
            <a:ext cx="3657600" cy="3657600"/>
          </a:xfrm>
          <a:prstGeom prst="ellipse">
            <a:avLst/>
          </a:prstGeom>
          <a:ln w="15875">
            <a:solidFill>
              <a:srgbClr val="CADCFC">
                <a:alpha val="55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247120" y="-1463040"/>
            <a:ext cx="2377440" cy="2377440"/>
          </a:xfrm>
          <a:prstGeom prst="ellipse">
            <a:avLst/>
          </a:prstGeom>
          <a:ln w="15875">
            <a:solidFill>
              <a:srgbClr val="CADCFC">
                <a:alpha val="55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704320" y="-1005840"/>
            <a:ext cx="1463040" cy="1463040"/>
          </a:xfrm>
          <a:prstGeom prst="ellipse">
            <a:avLst/>
          </a:prstGeom>
          <a:ln w="15875">
            <a:solidFill>
              <a:srgbClr val="C9A2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2331720"/>
            <a:ext cx="8686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日置　俊行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841248" y="3200400"/>
            <a:ext cx="8686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spc="2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Toshiyuki Hioki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822960" y="3703320"/>
            <a:ext cx="8686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C9A227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コンサル ／ 社内SE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822960" y="4224528"/>
            <a:ext cx="8686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CADCFC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経営と現場をつなぐ、DX・AI推進パートナー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22960" y="617220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CADCFC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静岡県三島市　拠点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3" name="Connector 32"/>
          <p:cNvCxnSpPr/>
          <p:nvPr/>
        </p:nvCxnSpPr>
        <p:spPr>
          <a:xfrm>
            <a:off x="914400" y="2039112"/>
            <a:ext cx="0" cy="3977640"/>
          </a:xfrm>
          <a:prstGeom prst="line">
            <a:avLst/>
          </a:prstGeom>
          <a:ln w="19050">
            <a:solidFill>
              <a:srgbClr val="C9A227">
                <a:alpha val="3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Text 0"/>
          <p:cNvSpPr/>
          <p:nvPr/>
        </p:nvSpPr>
        <p:spPr>
          <a:xfrm>
            <a:off x="640080" y="41148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経歴サマリー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640080" y="100584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プロジェクトマネジメント歴11年。業種を越えて要件定義〜現場実装まで一気通貫で担当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685800" y="1805940"/>
            <a:ext cx="457200" cy="457200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685800" y="18059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1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417320" y="1691640"/>
            <a:ext cx="1874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2013–2022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3429000" y="1691640"/>
            <a:ext cx="8092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50" dirty="0">
                <a:solidFill>
                  <a:srgbClr val="22262F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大手自動車部品メーカーで設計開発・DX推進(業務改善・システム構築)を担当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914400" y="2432304"/>
            <a:ext cx="10607040" cy="0"/>
          </a:xfrm>
          <a:prstGeom prst="line">
            <a:avLst/>
          </a:prstGeom>
          <a:noFill/>
          <a:ln w="9525">
            <a:solidFill>
              <a:srgbClr val="DDE3EC"/>
            </a:solidFill>
            <a:prstDash val="solid"/>
          </a:ln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>
            <a:off x="685800" y="2601468"/>
            <a:ext cx="457200" cy="457200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85800" y="260146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2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1417320" y="2487168"/>
            <a:ext cx="1874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2023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3429000" y="2487168"/>
            <a:ext cx="8092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50" dirty="0">
                <a:solidFill>
                  <a:srgbClr val="22262F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新規事業構想・地域活性化プロジェクトのコンサルティングに参画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914400" y="3227832"/>
            <a:ext cx="10607040" cy="0"/>
          </a:xfrm>
          <a:prstGeom prst="line">
            <a:avLst/>
          </a:prstGeom>
          <a:noFill/>
          <a:ln w="9525">
            <a:solidFill>
              <a:srgbClr val="DDE3EC"/>
            </a:solidFill>
            <a:prstDash val="solid"/>
          </a:ln>
        </p:spPr>
        <p:txBody>
          <a:bodyPr/>
          <a:p/>
        </p:txBody>
      </p:sp>
      <p:sp>
        <p:nvSpPr>
          <p:cNvPr id="14" name="Shape 12"/>
          <p:cNvSpPr/>
          <p:nvPr/>
        </p:nvSpPr>
        <p:spPr>
          <a:xfrm>
            <a:off x="685800" y="3396996"/>
            <a:ext cx="457200" cy="457200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685800" y="33969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3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1417320" y="3282696"/>
            <a:ext cx="1874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2024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3429000" y="3282696"/>
            <a:ext cx="8092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50" dirty="0">
                <a:solidFill>
                  <a:srgbClr val="22262F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大手通信キャリアグループでDXプロジェクト推進・PM(業務委託)</a:t>
            </a:r>
            <a:endParaRPr lang="en-US" sz="1350" dirty="0"/>
          </a:p>
        </p:txBody>
      </p:sp>
      <p:sp>
        <p:nvSpPr>
          <p:cNvPr id="18" name="Shape 16"/>
          <p:cNvSpPr/>
          <p:nvPr/>
        </p:nvSpPr>
        <p:spPr>
          <a:xfrm>
            <a:off x="914400" y="4023360"/>
            <a:ext cx="10607040" cy="0"/>
          </a:xfrm>
          <a:prstGeom prst="line">
            <a:avLst/>
          </a:prstGeom>
          <a:noFill/>
          <a:ln w="9525">
            <a:solidFill>
              <a:srgbClr val="DDE3EC"/>
            </a:solidFill>
            <a:prstDash val="solid"/>
          </a:ln>
        </p:spPr>
        <p:txBody>
          <a:bodyPr/>
          <a:p/>
        </p:txBody>
      </p:sp>
      <p:sp>
        <p:nvSpPr>
          <p:cNvPr id="19" name="Shape 17"/>
          <p:cNvSpPr/>
          <p:nvPr/>
        </p:nvSpPr>
        <p:spPr>
          <a:xfrm>
            <a:off x="685800" y="4192524"/>
            <a:ext cx="457200" cy="457200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685800" y="419252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4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1417320" y="4078224"/>
            <a:ext cx="1874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2025前半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429000" y="4078224"/>
            <a:ext cx="8092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50" dirty="0">
                <a:solidFill>
                  <a:srgbClr val="22262F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生成AI活用SaaS企業でプロダクト導入PM(業務委託)</a:t>
            </a:r>
            <a:endParaRPr lang="en-US" sz="1350" dirty="0"/>
          </a:p>
        </p:txBody>
      </p:sp>
      <p:sp>
        <p:nvSpPr>
          <p:cNvPr id="23" name="Shape 21"/>
          <p:cNvSpPr/>
          <p:nvPr/>
        </p:nvSpPr>
        <p:spPr>
          <a:xfrm>
            <a:off x="914400" y="4818888"/>
            <a:ext cx="10607040" cy="0"/>
          </a:xfrm>
          <a:prstGeom prst="line">
            <a:avLst/>
          </a:prstGeom>
          <a:noFill/>
          <a:ln w="9525">
            <a:solidFill>
              <a:srgbClr val="DDE3EC"/>
            </a:solidFill>
            <a:prstDash val="solid"/>
          </a:ln>
        </p:spPr>
        <p:txBody>
          <a:bodyPr/>
          <a:p/>
        </p:txBody>
      </p:sp>
      <p:sp>
        <p:nvSpPr>
          <p:cNvPr id="24" name="Shape 22"/>
          <p:cNvSpPr/>
          <p:nvPr/>
        </p:nvSpPr>
        <p:spPr>
          <a:xfrm>
            <a:off x="685800" y="4988052"/>
            <a:ext cx="457200" cy="457200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p/>
        </p:txBody>
      </p:sp>
      <p:sp>
        <p:nvSpPr>
          <p:cNvPr id="25" name="Text 23"/>
          <p:cNvSpPr/>
          <p:nvPr/>
        </p:nvSpPr>
        <p:spPr>
          <a:xfrm>
            <a:off x="685800" y="498805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5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1417320" y="4873752"/>
            <a:ext cx="1874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2025年10月〜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429000" y="4873752"/>
            <a:ext cx="8092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50" dirty="0">
                <a:solidFill>
                  <a:srgbClr val="22262F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総合建設業(従業員10名規模)でDX・AI推進顧問として参画</a:t>
            </a:r>
            <a:endParaRPr lang="en-US" sz="1350" dirty="0"/>
          </a:p>
        </p:txBody>
      </p:sp>
      <p:sp>
        <p:nvSpPr>
          <p:cNvPr id="28" name="Shape 26"/>
          <p:cNvSpPr/>
          <p:nvPr/>
        </p:nvSpPr>
        <p:spPr>
          <a:xfrm>
            <a:off x="914400" y="5614416"/>
            <a:ext cx="10607040" cy="0"/>
          </a:xfrm>
          <a:prstGeom prst="line">
            <a:avLst/>
          </a:prstGeom>
          <a:noFill/>
          <a:ln w="9525">
            <a:solidFill>
              <a:srgbClr val="DDE3EC"/>
            </a:solidFill>
            <a:prstDash val="solid"/>
          </a:ln>
        </p:spPr>
        <p:txBody>
          <a:bodyPr/>
          <a:p/>
        </p:txBody>
      </p:sp>
      <p:sp>
        <p:nvSpPr>
          <p:cNvPr id="29" name="Shape 27"/>
          <p:cNvSpPr/>
          <p:nvPr/>
        </p:nvSpPr>
        <p:spPr>
          <a:xfrm>
            <a:off x="685800" y="5783580"/>
            <a:ext cx="457200" cy="457200"/>
          </a:xfrm>
          <a:prstGeom prst="ellipse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30" name="Text 28"/>
          <p:cNvSpPr/>
          <p:nvPr/>
        </p:nvSpPr>
        <p:spPr>
          <a:xfrm>
            <a:off x="685800" y="57835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6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1417320" y="5669280"/>
            <a:ext cx="1874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2026年8月〜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3429000" y="5669280"/>
            <a:ext cx="8092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50" dirty="0">
                <a:solidFill>
                  <a:srgbClr val="22262F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個人事業主として複数社への伴走支援を開始</a:t>
            </a:r>
            <a:endParaRPr lang="en-US" sz="13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現在の活動：複数社を伴走支援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640080" y="100584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2026年8月より個人事業主として、業種の異なる複数のクライアントに並行して伴走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640080" y="1600200"/>
            <a:ext cx="5074920" cy="5065776"/>
          </a:xfrm>
          <a:prstGeom prst="roundRect">
            <a:avLst>
              <a:gd name="adj" fmla="val 247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50800" dir="5400000">
              <a:srgbClr val="1A1A2E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005840" y="1828800"/>
            <a:ext cx="1645920" cy="1645920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08176" y="2231136"/>
            <a:ext cx="841248" cy="84124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005840" y="3611879"/>
            <a:ext cx="46634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4000" b="1" dirty="0">
                <a:solidFill>
                  <a:srgbClr val="1E2761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総合建設業（従業員10名規模）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1005840" y="4818888"/>
            <a:ext cx="4343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C9A227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契約形態：業務委託／DX・AI推進顧問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1005840" y="5248655"/>
            <a:ext cx="43434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15000"/>
              </a:lnSpc>
              <a:spcAft>
                <a:spcPts val="1000"/>
              </a:spcAft>
              <a:buSzPct val="100000"/>
              <a:buChar char="●"/>
            </a:pPr>
            <a:r>
              <a:rPr lang="en-US" sz="1550" dirty="0">
                <a:solidFill>
                  <a:srgbClr val="22262F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経営層・現場・バックオフィスの認識差を整理し、意思決定可能な資料へ落とし込み</a:t>
            </a:r>
            <a:endParaRPr lang="en-US" sz="1300" dirty="0"/>
          </a:p>
          <a:p>
            <a:pPr marL="177800" indent="-177800">
              <a:lnSpc>
                <a:spcPct val="115000"/>
              </a:lnSpc>
              <a:spcAft>
                <a:spcPts val="1000"/>
              </a:spcAft>
              <a:buSzPct val="100000"/>
              <a:buChar char="●"/>
            </a:pPr>
            <a:r>
              <a:rPr lang="en-US" sz="1550" dirty="0">
                <a:solidFill>
                  <a:srgbClr val="22262F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SaaS横断の業務自動化、就業規則改定、ネットワーク整備を一気通貫で推進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6035040" y="1600200"/>
            <a:ext cx="5074920" cy="5065776"/>
          </a:xfrm>
          <a:prstGeom prst="roundRect">
            <a:avLst>
              <a:gd name="adj" fmla="val 247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50800" dir="5400000">
              <a:srgbClr val="1A1A2E">
                <a:alpha val="1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6400800" y="1828800"/>
            <a:ext cx="1645920" cy="1645920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03136" y="2231136"/>
            <a:ext cx="841248" cy="84124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6400800" y="3611879"/>
            <a:ext cx="46634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4000" b="1" dirty="0">
                <a:solidFill>
                  <a:srgbClr val="1E2761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IT企業（業務効率化支援）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6400800" y="4818888"/>
            <a:ext cx="4343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C9A227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契約形態：スポットAIアドバイザー</a:t>
            </a:r>
            <a:endParaRPr lang="en-US" sz="1200" dirty="0"/>
          </a:p>
        </p:txBody>
      </p:sp>
      <p:sp>
        <p:nvSpPr>
          <p:cNvPr id="15" name="Text 11"/>
          <p:cNvSpPr/>
          <p:nvPr/>
        </p:nvSpPr>
        <p:spPr>
          <a:xfrm>
            <a:off x="6400800" y="5248655"/>
            <a:ext cx="43434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15000"/>
              </a:lnSpc>
              <a:spcAft>
                <a:spcPts val="1000"/>
              </a:spcAft>
              <a:buSzPct val="100000"/>
              <a:buChar char="●"/>
            </a:pPr>
            <a:r>
              <a:rPr lang="en-US" sz="1550" dirty="0">
                <a:solidFill>
                  <a:srgbClr val="22262F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Codex／Claude Code活用による業務効率化を支援</a:t>
            </a:r>
            <a:endParaRPr lang="en-US" sz="1300" dirty="0"/>
          </a:p>
          <a:p>
            <a:pPr marL="177800" indent="-177800">
              <a:lnSpc>
                <a:spcPct val="115000"/>
              </a:lnSpc>
              <a:spcAft>
                <a:spcPts val="1000"/>
              </a:spcAft>
              <a:buSzPct val="100000"/>
              <a:buChar char="●"/>
            </a:pPr>
            <a:r>
              <a:rPr lang="en-US" sz="1550" dirty="0">
                <a:solidFill>
                  <a:srgbClr val="22262F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見積・原価計算システム等、社内システムの内製化を伴走支援</a:t>
            </a:r>
            <a:endParaRPr lang="en-US" sz="1300" dirty="0"/>
          </a:p>
        </p:txBody>
      </p:sp>
      <p:sp>
        <p:nvSpPr>
          <p:cNvPr id="16" name="Oval 15"/>
          <p:cNvSpPr/>
          <p:nvPr/>
        </p:nvSpPr>
        <p:spPr>
          <a:xfrm>
            <a:off x="10698480" y="5760720"/>
            <a:ext cx="2377440" cy="2377440"/>
          </a:xfrm>
          <a:prstGeom prst="ellipse">
            <a:avLst/>
          </a:prstGeom>
          <a:noFill/>
          <a:ln w="15875">
            <a:solidFill>
              <a:srgbClr val="1E2761">
                <a:alpha val="1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1109960" y="6172200"/>
            <a:ext cx="1554480" cy="1554480"/>
          </a:xfrm>
          <a:prstGeom prst="ellipse">
            <a:avLst/>
          </a:prstGeom>
          <a:noFill/>
          <a:ln w="15875">
            <a:solidFill>
              <a:srgbClr val="C9A227">
                <a:alpha val="3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強みは「現場に入り込む」働き方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9601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C9A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Forward Deployed Engineer（FDE）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40080" y="13716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顧客の現場に入り込み、要件定義から導入定着・運用まで一気通貫で担う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40080" y="2148840"/>
            <a:ext cx="1554480" cy="1554480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839" y="2514600"/>
            <a:ext cx="822960" cy="82296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40080" y="3886200"/>
            <a:ext cx="34290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3700" b="1" dirty="0">
                <a:solidFill>
                  <a:srgbClr val="1E2761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経営と現場をつなぐ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640080" y="5074920"/>
            <a:ext cx="3429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550" dirty="0">
                <a:solidFill>
                  <a:srgbClr val="22262F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認識差を構造化し、意思決定可能な資料・手順へ落とし込む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4343400" y="2148840"/>
            <a:ext cx="1554480" cy="1554480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09160" y="2514600"/>
            <a:ext cx="822960" cy="82296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4343400" y="3886200"/>
            <a:ext cx="34290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3700" b="1" dirty="0">
                <a:solidFill>
                  <a:srgbClr val="1E2761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SaaS横断の業務自動化</a:t>
            </a:r>
            <a:endParaRPr lang="en-US" sz="1600" dirty="0"/>
          </a:p>
        </p:txBody>
      </p:sp>
      <p:sp>
        <p:nvSpPr>
          <p:cNvPr id="12" name="Text 8"/>
          <p:cNvSpPr/>
          <p:nvPr/>
        </p:nvSpPr>
        <p:spPr>
          <a:xfrm>
            <a:off x="4343400" y="5074920"/>
            <a:ext cx="3429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550" dirty="0">
                <a:solidFill>
                  <a:srgbClr val="22262F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紙・Excel・チャット・SaaSに分断された業務フローを再設計</a:t>
            </a:r>
            <a:endParaRPr lang="en-US" sz="1250" dirty="0"/>
          </a:p>
        </p:txBody>
      </p:sp>
      <p:sp>
        <p:nvSpPr>
          <p:cNvPr id="13" name="Shape 9"/>
          <p:cNvSpPr/>
          <p:nvPr/>
        </p:nvSpPr>
        <p:spPr>
          <a:xfrm>
            <a:off x="8046720" y="2148840"/>
            <a:ext cx="1554480" cy="1554480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2480" y="2514600"/>
            <a:ext cx="822960" cy="822960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8046720" y="3886200"/>
            <a:ext cx="34290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3700" b="1" dirty="0">
                <a:solidFill>
                  <a:srgbClr val="1E2761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AIによるナレッジ化</a:t>
            </a:r>
            <a:endParaRPr lang="en-US" sz="1600" dirty="0"/>
          </a:p>
        </p:txBody>
      </p:sp>
      <p:sp>
        <p:nvSpPr>
          <p:cNvPr id="16" name="Text 11"/>
          <p:cNvSpPr/>
          <p:nvPr/>
        </p:nvSpPr>
        <p:spPr>
          <a:xfrm>
            <a:off x="8046720" y="5074920"/>
            <a:ext cx="3429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550" dirty="0">
                <a:solidFill>
                  <a:srgbClr val="22262F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Claude Code／Codexで意思決定の背景・経緯をドキュメント化し属人化を防止</a:t>
            </a:r>
            <a:endParaRPr lang="en-US" sz="1250" dirty="0"/>
          </a:p>
        </p:txBody>
      </p:sp>
      <p:sp>
        <p:nvSpPr>
          <p:cNvPr id="17" name="Chevron 16"/>
          <p:cNvSpPr/>
          <p:nvPr/>
        </p:nvSpPr>
        <p:spPr>
          <a:xfrm>
            <a:off x="3017520" y="2779776"/>
            <a:ext cx="502920" cy="292608"/>
          </a:xfrm>
          <a:prstGeom prst="chevron">
            <a:avLst/>
          </a:prstGeom>
          <a:solidFill>
            <a:srgbClr val="C9A227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Chevron 17"/>
          <p:cNvSpPr/>
          <p:nvPr/>
        </p:nvSpPr>
        <p:spPr>
          <a:xfrm>
            <a:off x="6720840" y="2779776"/>
            <a:ext cx="502920" cy="292608"/>
          </a:xfrm>
          <a:prstGeom prst="chevron">
            <a:avLst/>
          </a:prstGeom>
          <a:solidFill>
            <a:srgbClr val="C9A227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698480" y="5760720"/>
            <a:ext cx="2377440" cy="2377440"/>
          </a:xfrm>
          <a:prstGeom prst="ellipse">
            <a:avLst/>
          </a:prstGeom>
          <a:noFill/>
          <a:ln w="15875">
            <a:solidFill>
              <a:srgbClr val="1E2761">
                <a:alpha val="1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1109960" y="6172200"/>
            <a:ext cx="1554480" cy="1554480"/>
          </a:xfrm>
          <a:prstGeom prst="ellipse">
            <a:avLst/>
          </a:prstGeom>
          <a:noFill/>
          <a:ln w="15875">
            <a:solidFill>
              <a:srgbClr val="C9A227">
                <a:alpha val="3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645920" y="-1645920"/>
            <a:ext cx="2743200" cy="2743200"/>
          </a:xfrm>
          <a:prstGeom prst="ellipse">
            <a:avLst/>
          </a:prstGeom>
          <a:ln w="15875">
            <a:solidFill>
              <a:srgbClr val="CADCFC">
                <a:alpha val="55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-1188720" y="-1188720"/>
            <a:ext cx="1828800" cy="1828800"/>
          </a:xfrm>
          <a:prstGeom prst="ellipse">
            <a:avLst/>
          </a:prstGeom>
          <a:ln w="15875">
            <a:solidFill>
              <a:srgbClr val="C9A22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22960" y="1188720"/>
            <a:ext cx="9144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今後の展望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841248" y="2377440"/>
            <a:ext cx="9875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700" dirty="0">
                <a:solidFill>
                  <a:srgbClr val="CADCFC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複数の企業に伴走しながら、AI活用による現場の意思決定・業務プロセス変革を支援していきます。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841248" y="3246120"/>
            <a:ext cx="9875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700" dirty="0">
                <a:solidFill>
                  <a:srgbClr val="CADCFC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業種を問わず、経営と現場の間で立ち止まっている課題に、これからも向き合っていきたいと思います。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822960" y="61722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静岡県三島市　｜　hioguitar0730@gmail.com</a:t>
            </a:r>
            <a:endParaRPr lang="en-US" sz="1200" dirty="0"/>
          </a:p>
        </p:txBody>
      </p:sp>
      <p:sp>
        <p:nvSpPr>
          <p:cNvPr id="8" name="Oval 7"/>
          <p:cNvSpPr/>
          <p:nvPr/>
        </p:nvSpPr>
        <p:spPr>
          <a:xfrm>
            <a:off x="9692640" y="5394960"/>
            <a:ext cx="3657600" cy="3657600"/>
          </a:xfrm>
          <a:prstGeom prst="ellipse">
            <a:avLst/>
          </a:prstGeom>
          <a:noFill/>
          <a:ln w="15875">
            <a:solidFill>
              <a:srgbClr val="CADCFC">
                <a:alpha val="5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607040" y="5760720"/>
            <a:ext cx="2377440" cy="2377440"/>
          </a:xfrm>
          <a:prstGeom prst="ellipse">
            <a:avLst/>
          </a:prstGeom>
          <a:noFill/>
          <a:ln w="15875">
            <a:solidFill>
              <a:srgbClr val="CADCFC">
                <a:alpha val="5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338559" y="5943600"/>
            <a:ext cx="1463040" cy="1463040"/>
          </a:xfrm>
          <a:prstGeom prst="ellipse">
            <a:avLst/>
          </a:prstGeom>
          <a:noFill/>
          <a:ln w="15875">
            <a:solidFill>
              <a:srgbClr val="C9A227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2026-08-20T08:18:17Z</dcterms:created>
  <dcterms:modified xsi:type="dcterms:W3CDTF">2026-08-20T08:18:17Z</dcterms:modified>
</cp:coreProperties>
</file>